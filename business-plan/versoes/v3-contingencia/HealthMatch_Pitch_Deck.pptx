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5943600" cy="5943600"/>
          </a:xfrm>
          <a:prstGeom prst="ellipse">
            <a:avLst/>
          </a:prstGeom>
          <a:solidFill>
            <a:srgbClr val="12386B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5029200" cy="5029200"/>
          </a:xfrm>
          <a:prstGeom prst="ellipse">
            <a:avLst/>
          </a:prstGeom>
          <a:solidFill>
            <a:srgbClr val="0E315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✚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camada de contingência para escalas de saúde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Cobre o gap — não a escala inteira  </a:t>
            </a:r>
            <a:pPr indent="0" marL="0">
              <a:buNone/>
            </a:pPr>
            <a:r>
              <a:rPr lang="en-US" sz="140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começando pela Coaph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R$ 300 mil (rodada plena depois)</a:t>
            </a:r>
            <a:pPr indent="0" marL="0">
              <a:buNone/>
            </a:pPr>
            <a:r>
              <a:rPr lang="en-US" sz="140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Junho 2026  ·  Fortaleza/CE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caro não é a escala — é o gap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29968"/>
            <a:ext cx="603504" cy="603504"/>
          </a:xfrm>
          <a:prstGeom prst="ellipse">
            <a:avLst/>
          </a:prstGeom>
          <a:solidFill>
            <a:srgbClr val="D85A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716" dirty="0"/>
          </a:p>
        </p:txBody>
      </p:sp>
      <p:sp>
        <p:nvSpPr>
          <p:cNvPr id="7" name="Text 5"/>
          <p:cNvSpPr/>
          <p:nvPr/>
        </p:nvSpPr>
        <p:spPr>
          <a:xfrm>
            <a:off x="1600200" y="19751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Plantão descoberto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00200" y="2414016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Penalidade contratual + risco assistencial quando ninguém cobre.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29968"/>
            <a:ext cx="603504" cy="603504"/>
          </a:xfrm>
          <a:prstGeom prst="ellipse">
            <a:avLst/>
          </a:prstGeom>
          <a:solidFill>
            <a:srgbClr val="E8A23D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2996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716" dirty="0"/>
          </a:p>
        </p:txBody>
      </p:sp>
      <p:sp>
        <p:nvSpPr>
          <p:cNvPr id="12" name="Text 10"/>
          <p:cNvSpPr/>
          <p:nvPr/>
        </p:nvSpPr>
        <p:spPr>
          <a:xfrm>
            <a:off x="7223760" y="19751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223760" y="2414016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última hora, quase sempre com sobrepreço.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904488"/>
            <a:ext cx="603504" cy="603504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044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⌚</a:t>
            </a:r>
            <a:endParaRPr lang="en-US" sz="1716" dirty="0"/>
          </a:p>
        </p:txBody>
      </p:sp>
      <p:sp>
        <p:nvSpPr>
          <p:cNvPr id="17" name="Text 15"/>
          <p:cNvSpPr/>
          <p:nvPr/>
        </p:nvSpPr>
        <p:spPr>
          <a:xfrm>
            <a:off x="1600200" y="38496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de preposto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00200" y="4288536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exceções consomem o grosso do esforço da equipe.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6118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904488"/>
            <a:ext cx="603504" cy="603504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90448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716" dirty="0"/>
          </a:p>
        </p:txBody>
      </p:sp>
      <p:sp>
        <p:nvSpPr>
          <p:cNvPr id="22" name="Text 20"/>
          <p:cNvSpPr/>
          <p:nvPr/>
        </p:nvSpPr>
        <p:spPr>
          <a:xfrm>
            <a:off x="7223760" y="38496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Exceção, não regra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223760" y="4288536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maior parte fecha no processo normal; o gap é onde dói.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0B2D5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623560"/>
            <a:ext cx="10515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Coaph: </a:t>
            </a:r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~R$ 240 mil/mês</a:t>
            </a:r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prepostos + sobrepreço de cobertura + penalidades — tudo concentrado no gap.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camada de contingência que entra só quando falha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21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 especialidade, CBO, credencial, no-show e conflito de agenda — acha rápido quem cobre.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79392" y="19202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240280"/>
            <a:ext cx="777240" cy="777240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210" dirty="0"/>
          </a:p>
        </p:txBody>
      </p:sp>
      <p:sp>
        <p:nvSpPr>
          <p:cNvPr id="12" name="Text 10"/>
          <p:cNvSpPr/>
          <p:nvPr/>
        </p:nvSpPr>
        <p:spPr>
          <a:xfrm>
            <a:off x="4553712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no WhatsApp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53712" y="36576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Aborda, negocia e confirma a cobertura 24/7, com humano nas ações críticas.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0144" y="19202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0184" y="2240280"/>
            <a:ext cx="777240" cy="777240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2210" dirty="0"/>
          </a:p>
        </p:txBody>
      </p:sp>
      <p:sp>
        <p:nvSpPr>
          <p:cNvPr id="17" name="Text 15"/>
          <p:cNvSpPr/>
          <p:nvPr/>
        </p:nvSpPr>
        <p:spPr>
          <a:xfrm>
            <a:off x="8284464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84464" y="36576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a cobertura e a margem com auditoria — sem conciliação manual.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 </a:t>
            </a:r>
            <a:pPr indent="0" marL="0">
              <a:buNone/>
            </a:pPr>
            <a:r>
              <a:rPr lang="en-US" sz="150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coberto em minutos, de um pool pronto, sem o sobrepreço da urgência.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uma ideia: já está construído e testado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0B2D5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construído e testado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32/32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37744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de API aprovados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44728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377440" y="35387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negócio validadas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19709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77440" y="428853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de domínio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94690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377440" y="50383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piloto na Coaph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178308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2084832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2084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84" dirty="0"/>
          </a:p>
        </p:txBody>
      </p:sp>
      <p:sp>
        <p:nvSpPr>
          <p:cNvPr id="17" name="Text 15"/>
          <p:cNvSpPr/>
          <p:nvPr/>
        </p:nvSpPr>
        <p:spPr>
          <a:xfrm>
            <a:off x="6675120" y="191109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+ conflito de agenda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75120" y="22768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especialidade, CBO, credencial, no-show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843784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314553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199632" y="31455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84" dirty="0"/>
          </a:p>
        </p:txBody>
      </p:sp>
      <p:sp>
        <p:nvSpPr>
          <p:cNvPr id="22" name="Text 20"/>
          <p:cNvSpPr/>
          <p:nvPr/>
        </p:nvSpPr>
        <p:spPr>
          <a:xfrm>
            <a:off x="6675120" y="2971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conversacional no WhatsApp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67512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aborda, negocia e confirma a cobertura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0" y="3904488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99632" y="420624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199632" y="4206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84" dirty="0"/>
          </a:p>
        </p:txBody>
      </p:sp>
      <p:sp>
        <p:nvSpPr>
          <p:cNvPr id="27" name="Text 25"/>
          <p:cNvSpPr/>
          <p:nvPr/>
        </p:nvSpPr>
        <p:spPr>
          <a:xfrm>
            <a:off x="6675120" y="40325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 + auditoria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675120" y="439826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da cobertura e da margem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0" y="4965192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5266944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199632" y="5266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84" dirty="0"/>
          </a:p>
        </p:txBody>
      </p:sp>
      <p:sp>
        <p:nvSpPr>
          <p:cNvPr id="32" name="Text 30"/>
          <p:cNvSpPr/>
          <p:nvPr/>
        </p:nvSpPr>
        <p:spPr>
          <a:xfrm>
            <a:off x="6675120" y="50932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+ RBAC + white-label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675120" y="54589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pronto para multi-tenant no roadmap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NestJS · Next.js · PostgreSQL · IA Anthropic · Twilio/WhatsApp · Docker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Defensiva paga o piloto; ofensiva paga a rodada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0B2D5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DEFENSIVA · justifica o PILOTO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Reduzir o custo do gap na Coaph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preposto + sobrepreço emergencial + penalidade evitada. Mensurável já.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R$ 300 mil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paga-se em ~2,6 meses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199632" y="1783080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65392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OFENSIVA · justifica a RODADA PLENA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65392" y="2377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Escalar a contingência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65392" y="30175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camada para outras cooperativas e hospitais. SaaS de contingência — modesto e previsível.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65392" y="42976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R$ 1,5 mi DEPOIS</a:t>
            </a:r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após o piloto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Coaph assina como cliente (ganha já) + financia o piloto. A rodada grande fica para depois, com dados.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· COAPH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economia do gap vem de três camadas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46304" cy="777240"/>
          </a:xfrm>
          <a:prstGeom prst="roundRect">
            <a:avLst>
              <a:gd name="adj" fmla="val 12500"/>
            </a:avLst>
          </a:prstGeom>
          <a:solidFill>
            <a:srgbClr val="0B74D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preposto no gap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029200" y="17830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7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R$ 38 mil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697480"/>
            <a:ext cx="146304" cy="77724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974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Sobrepreço emergencial evitado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0" y="26974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R$ 53 mil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11880"/>
            <a:ext cx="146304" cy="777240"/>
          </a:xfrm>
          <a:prstGeom prst="roundRect">
            <a:avLst>
              <a:gd name="adj" fmla="val 12500"/>
            </a:avLst>
          </a:prstGeom>
          <a:solidFill>
            <a:srgbClr val="12B88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118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Penalidade evitada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29200" y="36118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2B8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R$ 43 mil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0" y="1783080"/>
            <a:ext cx="4325112" cy="2651760"/>
          </a:xfrm>
          <a:prstGeom prst="roundRect">
            <a:avLst>
              <a:gd name="adj" fmla="val 2759"/>
            </a:avLst>
          </a:prstGeom>
          <a:solidFill>
            <a:srgbClr val="0B2D5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bruta/mês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0" y="23774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R$ 134 mil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589520" y="3200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(–) pago ao HealthMatch  R$ 19 mil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589520" y="3611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Líquida: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R$ 115 mil/mês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4846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realista (gap ~600/mês). Como cliente, a Coaph é líquida-positiva todo mês — antes de qualquer investimento.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🔹 Sobrepreço e penalidade são as premissas de maior peso — o piloto existe para medi-las.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943600" cy="5943600"/>
          </a:xfrm>
          <a:prstGeom prst="ellipse">
            <a:avLst/>
          </a:prstGeom>
          <a:solidFill>
            <a:srgbClr val="1238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piloto se paga em poucos meses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de R$ 300 mil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~2,6 meses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payback no cenário realista (≈4 meses no conservador) — só com a economia do gap na Coaph.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0E335F"/>
          </a:solidFill>
          <a:ln w="12700">
            <a:solidFill>
              <a:srgbClr val="1C4A82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· R$ 300 mil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0" y="235915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~2,6 meses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63640" y="315468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0E335F"/>
          </a:solidFill>
          <a:ln w="12700">
            <a:solidFill>
              <a:srgbClr val="1C4A82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3337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Rodada plena · R$ 1,5 mi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0" y="36850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 meses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63640" y="448056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0E335F"/>
          </a:solidFill>
          <a:ln w="12700">
            <a:solidFill>
              <a:srgbClr val="1C4A82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4663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Floor: só prepostos · R$ 1,5 mi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501091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 meses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RECEITA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da cooperativa &lt; 5% → receita desacoplada do GMV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2080" dirty="0"/>
          </a:p>
        </p:txBody>
      </p:sp>
      <p:sp>
        <p:nvSpPr>
          <p:cNvPr id="7" name="Text 5"/>
          <p:cNvSpPr/>
          <p:nvPr/>
        </p:nvSpPr>
        <p:spPr>
          <a:xfrm>
            <a:off x="178308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de prontidão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Mensalidade fixa pelo acesso ao pool de contingência. Previsível, não depende da margem fina.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7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 mil</a:t>
            </a:r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/mês (Coaph)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199632" y="182880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0B2D5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214884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080" dirty="0"/>
          </a:p>
        </p:txBody>
      </p:sp>
      <p:sp>
        <p:nvSpPr>
          <p:cNvPr id="13" name="Text 11"/>
          <p:cNvSpPr/>
          <p:nvPr/>
        </p:nvSpPr>
        <p:spPr>
          <a:xfrm>
            <a:off x="7434072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por gap (capado)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65392" y="306324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Pequena taxa por cobertura, capada no teto da margem. Alinha receita ao valor entregue.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65392" y="39319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2%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≈ R$ 24/plantão médico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Take-rate gordo sobre GMV não se aplica neste mercado. Receita HM vinda da Coaph ≈ R$ 18,8 mil/mês.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MEDIMOS SUCESSO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do piloto — economia do gap, não só uso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21408"/>
            <a:ext cx="566928" cy="566928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21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612" dirty="0"/>
          </a:p>
        </p:txBody>
      </p:sp>
      <p:sp>
        <p:nvSpPr>
          <p:cNvPr id="7" name="Text 5"/>
          <p:cNvSpPr/>
          <p:nvPr/>
        </p:nvSpPr>
        <p:spPr>
          <a:xfrm>
            <a:off x="1554480" y="206654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Sobrepreço de cobertura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54480" y="2651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a camada 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8288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121408"/>
            <a:ext cx="566928" cy="566928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2121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612" dirty="0"/>
          </a:p>
        </p:txBody>
      </p:sp>
      <p:sp>
        <p:nvSpPr>
          <p:cNvPr id="12" name="Text 10"/>
          <p:cNvSpPr/>
          <p:nvPr/>
        </p:nvSpPr>
        <p:spPr>
          <a:xfrm>
            <a:off x="5285232" y="206654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Plantões descobertos / penalidades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285232" y="2651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a camada 3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10144" y="182880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84464" y="2121408"/>
            <a:ext cx="566928" cy="566928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2121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⌚</a:t>
            </a:r>
            <a:endParaRPr lang="en-US" sz="1612" dirty="0"/>
          </a:p>
        </p:txBody>
      </p:sp>
      <p:sp>
        <p:nvSpPr>
          <p:cNvPr id="17" name="Text 15"/>
          <p:cNvSpPr/>
          <p:nvPr/>
        </p:nvSpPr>
        <p:spPr>
          <a:xfrm>
            <a:off x="9015984" y="206654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de preposto no gap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015984" y="2651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a camada 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904488"/>
            <a:ext cx="566928" cy="566928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04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612" dirty="0"/>
          </a:p>
        </p:txBody>
      </p:sp>
      <p:sp>
        <p:nvSpPr>
          <p:cNvPr id="22" name="Text 20"/>
          <p:cNvSpPr/>
          <p:nvPr/>
        </p:nvSpPr>
        <p:spPr>
          <a:xfrm>
            <a:off x="1554480" y="384962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cobertura do gap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54480" y="4434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→ minutos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79392" y="36118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3904488"/>
            <a:ext cx="566928" cy="566928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3904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1612" dirty="0"/>
          </a:p>
        </p:txBody>
      </p:sp>
      <p:sp>
        <p:nvSpPr>
          <p:cNvPr id="27" name="Text 25"/>
          <p:cNvSpPr/>
          <p:nvPr/>
        </p:nvSpPr>
        <p:spPr>
          <a:xfrm>
            <a:off x="5285232" y="384962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Aceite via WhatsApp/IA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285232" y="4434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cobertura automática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10144" y="361188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84464" y="3904488"/>
            <a:ext cx="566928" cy="566928"/>
          </a:xfrm>
          <a:prstGeom prst="ellipse">
            <a:avLst/>
          </a:prstGeom>
          <a:solidFill>
            <a:srgbClr val="12B886"/>
          </a:solidFill>
          <a:ln/>
        </p:spPr>
      </p:sp>
      <p:sp>
        <p:nvSpPr>
          <p:cNvPr id="31" name="Text 29"/>
          <p:cNvSpPr/>
          <p:nvPr/>
        </p:nvSpPr>
        <p:spPr>
          <a:xfrm>
            <a:off x="8284464" y="3904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1612" dirty="0"/>
          </a:p>
        </p:txBody>
      </p:sp>
      <p:sp>
        <p:nvSpPr>
          <p:cNvPr id="32" name="Text 30"/>
          <p:cNvSpPr/>
          <p:nvPr/>
        </p:nvSpPr>
        <p:spPr>
          <a:xfrm>
            <a:off x="9015984" y="384962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mensal realizada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015984" y="4434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gatilho da rodada plena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antes do piloto · comitê mensal Coaph + HealthMatch acompanha o ROI e destrava a rodada plena.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RECOMENDAÇÃO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Piloto-first: barato, rápido, com dado no fim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0B2D5B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 AGORA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1417320" y="243230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Assinar como cliente (ROI positivo já)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3182112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82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1417320" y="3145536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Financiar o piloto de R$ 300 mil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3895344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95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1417320" y="385876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baseline + economia do gap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460857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608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1417320" y="457200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Comitê mensal de ROI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4400" y="5349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Adiar a rodada de R$ 1,5 mi até o piloto comprovar economia ≥ R$ 100 mil/mês.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9632" y="178308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65392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enquadramento honesto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65392" y="24231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com prepostos, a economia não pagaria R$ 1,5 mi rápido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(~40 meses). Por isso não se pede o cheque grande agora.
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piloto de R$ 300 mil se paga em meses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prova o custo real do gap (sobrepreço + penalidade).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7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Pior caso: a Coaph fica com uma contingência mais barata — sem arriscar R$ 1,5 mi.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 · ESCALA (OFENSIVA)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replicar: um SaaS de contingência previsível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R$ 226 mil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cliente (Coaph)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9392" y="19202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53712" y="25603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74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R$ 1,13 mi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53712" y="3429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cooperativas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0144" y="19202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84464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84464" y="25603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R$ 3,38 mi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84464" y="3429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 clientes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Modesto e previsível — não um foguete de marketplace. A rodada de R$ 1,5 mi se dimensiona a este plano, após o piloto.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🔹 Receita/cliente ≈ realista da Coaph. Comps: Nomad, Trusted, Medely, ShiftMed, Patchwork validam a categoria.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piloto à economia comprovada — e à escala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385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0–6 m · Piloto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R$ 300 mil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296265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28346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 + LGPD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367588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354787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Implantar contingência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" y="438912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4261104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+ economia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" y="510235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4974336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Comitê mensal de ROI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79392" y="18288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79392" y="18288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0B74D1"/>
          </a:solidFill>
          <a:ln/>
        </p:spPr>
      </p:sp>
      <p:sp>
        <p:nvSpPr>
          <p:cNvPr id="18" name="Text 16"/>
          <p:cNvSpPr/>
          <p:nvPr/>
        </p:nvSpPr>
        <p:spPr>
          <a:xfrm>
            <a:off x="4553712" y="19385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6–18 m · Provar+abrir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53712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Coaph plena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0" y="2962656"/>
            <a:ext cx="146304" cy="146304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346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Economia ≥ R$ 100 mil/mês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3675888"/>
            <a:ext cx="146304" cy="146304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54787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2ª cooperativa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0" y="4389120"/>
            <a:ext cx="146304" cy="146304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4261104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comprovado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0" y="5102352"/>
            <a:ext cx="146304" cy="146304"/>
          </a:xfrm>
          <a:prstGeom prst="ellipse">
            <a:avLst/>
          </a:prstGeom>
          <a:solidFill>
            <a:srgbClr val="0B74D1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4974336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 rodada plena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10144" y="18288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sx="100000" sy="100000" kx="0" ky="0" algn="bl" rotWithShape="0" blurRad="76200" dist="25400" dir="5400000">
              <a:srgbClr val="BBC8D8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10144" y="182880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0B2D5B"/>
          </a:solidFill>
          <a:ln/>
        </p:spPr>
      </p:sp>
      <p:sp>
        <p:nvSpPr>
          <p:cNvPr id="30" name="Text 28"/>
          <p:cNvSpPr/>
          <p:nvPr/>
        </p:nvSpPr>
        <p:spPr>
          <a:xfrm>
            <a:off x="8284464" y="19385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18–36 m · Escala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84464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Ofensiva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02752" y="2962656"/>
            <a:ext cx="146304" cy="146304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33" name="Text 31"/>
          <p:cNvSpPr/>
          <p:nvPr/>
        </p:nvSpPr>
        <p:spPr>
          <a:xfrm>
            <a:off x="8577072" y="28346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cooperativas/hospitais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302752" y="3675888"/>
            <a:ext cx="146304" cy="146304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35" name="Text 33"/>
          <p:cNvSpPr/>
          <p:nvPr/>
        </p:nvSpPr>
        <p:spPr>
          <a:xfrm>
            <a:off x="8577072" y="354787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público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302752" y="4389120"/>
            <a:ext cx="146304" cy="146304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37" name="Text 35"/>
          <p:cNvSpPr/>
          <p:nvPr/>
        </p:nvSpPr>
        <p:spPr>
          <a:xfrm>
            <a:off x="8577072" y="4261104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Rodada seed/plena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302752" y="5102352"/>
            <a:ext cx="146304" cy="146304"/>
          </a:xfrm>
          <a:prstGeom prst="ellipse">
            <a:avLst/>
          </a:prstGeom>
          <a:solidFill>
            <a:srgbClr val="0B2D5B"/>
          </a:solidFill>
          <a:ln/>
        </p:spPr>
      </p:sp>
      <p:sp>
        <p:nvSpPr>
          <p:cNvPr id="39" name="Text 37"/>
          <p:cNvSpPr/>
          <p:nvPr/>
        </p:nvSpPr>
        <p:spPr>
          <a:xfrm>
            <a:off x="8577072" y="4974336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Tração real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Confidencial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486400" cy="5486400"/>
          </a:xfrm>
          <a:prstGeom prst="ellipse">
            <a:avLst/>
          </a:prstGeom>
          <a:solidFill>
            <a:srgbClr val="0E315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2194560"/>
            <a:ext cx="5943600" cy="5943600"/>
          </a:xfrm>
          <a:prstGeom prst="ellipse">
            <a:avLst/>
          </a:prstGeom>
          <a:solidFill>
            <a:srgbClr val="12386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✚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o gap agora,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escalar a contingência depois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Assine como cliente. Financie o piloto. Decida a rodada grande com dados.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HealthMatch</a:t>
            </a:r>
            <a:pPr indent="0" marL="0">
              <a:buNone/>
            </a:pPr>
            <a:r>
              <a:rPr lang="en-US" sz="1300" dirty="0">
                <a:solidFill>
                  <a:srgbClr val="9FB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Piloto R$ 300 mil   ·   Coaph · Fortaleza/CE   ·  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HealthMatch — Pitch Coaph (piloto + pre-seed)</dc:title>
  <dc:subject>PptxGenJS Presentation</dc:subject>
  <dc:creator>HealthMatch</dc:creator>
  <cp:lastModifiedBy>HealthMatch</cp:lastModifiedBy>
  <cp:revision>1</cp:revision>
  <dcterms:created xsi:type="dcterms:W3CDTF">2026-06-24T03:05:36Z</dcterms:created>
  <dcterms:modified xsi:type="dcterms:W3CDTF">2026-06-24T03:05:36Z</dcterms:modified>
</cp:coreProperties>
</file>