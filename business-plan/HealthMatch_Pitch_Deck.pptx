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D5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2D5B"/>
                </a:solidFill>
                <a:latin typeface="Arial"/>
              </a:rPr>
              <a:t>Receita líquida (R$ mi)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Conservador</c:v>
                </c:pt>
              </c:strCache>
            </c:strRef>
          </c:tx>
          <c:spPr>
            <a:solidFill>
              <a:srgbClr val="6B7A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B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0.43</c:v>
                </c:pt>
                <c:pt idx="1">
                  <c:v>2.26</c:v>
                </c:pt>
                <c:pt idx="2">
                  <c:v>6.38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Realista</c:v>
                </c:pt>
              </c:strCache>
            </c:strRef>
          </c:tx>
          <c:spPr>
            <a:solidFill>
              <a:srgbClr val="0B74D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B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1.09</c:v>
                </c:pt>
                <c:pt idx="1">
                  <c:v>5.99</c:v>
                </c:pt>
                <c:pt idx="2">
                  <c:v>16.5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Otimista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B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1.98</c:v>
                </c:pt>
                <c:pt idx="1">
                  <c:v>11.9</c:v>
                </c:pt>
                <c:pt idx="2">
                  <c:v>33.3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B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B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D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5943600" cy="5943600"/>
          </a:xfrm>
          <a:prstGeom prst="ellipse">
            <a:avLst/>
          </a:prstGeom>
          <a:solidFill>
            <a:srgbClr val="12386B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91840"/>
            <a:ext cx="5029200" cy="5029200"/>
          </a:xfrm>
          <a:prstGeom prst="ellipse">
            <a:avLst/>
          </a:prstGeom>
          <a:solidFill>
            <a:srgbClr val="0E31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✚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camada de inteligência operacional do trabalho em saúde no Brasil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e alocação inteligente de plantões  </a:t>
            </a:r>
            <a:pPr indent="0" marL="0">
              <a:buNone/>
            </a:pPr>
            <a:r>
              <a:rPr lang="en-US" sz="1400" dirty="0">
                <a:solidFill>
                  <a:srgbClr val="9FB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SaaS + marketplace com 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Captação Pre-seed · R$ 1,5 mi</a:t>
            </a:r>
            <a:pPr indent="0" marL="0">
              <a:buNone/>
            </a:pPr>
            <a:r>
              <a:rPr lang="en-US" sz="1400" dirty="0">
                <a:solidFill>
                  <a:srgbClr val="9FB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Junho 2026  ·  Beachhead: Fortaleza/CE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Preencher um plantão ainda é um processo manual e caro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75688"/>
            <a:ext cx="640080" cy="640080"/>
          </a:xfrm>
          <a:prstGeom prst="ellipse">
            <a:avLst/>
          </a:prstGeom>
          <a:solidFill>
            <a:srgbClr val="D85A5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756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1645920" y="2057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Plantão descoberto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2496312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Vagas que ninguém preenche a tempo viram risco assistencial e multa contratual.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075688"/>
            <a:ext cx="640080" cy="640080"/>
          </a:xfrm>
          <a:prstGeom prst="ellipse">
            <a:avLst/>
          </a:prstGeom>
          <a:solidFill>
            <a:srgbClr val="E8A23D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0756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⌚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7269480" y="2057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no WhatsApp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69480" y="2496312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Coordenadores caçam profissionais em grupos, planilhas e telefonemas, um a um.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24528"/>
            <a:ext cx="640080" cy="640080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245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1645920" y="4206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checagem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45920" y="4645152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Credencial vencida, especialidade errada e conflito de agenda passam despercebidos.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224528"/>
            <a:ext cx="640080" cy="640080"/>
          </a:xfrm>
          <a:prstGeom prst="ellipse">
            <a:avLst/>
          </a:prstGeom>
          <a:solidFill>
            <a:srgbClr val="0B2D5B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2245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</a:t>
            </a:r>
            <a:endParaRPr lang="en-US" sz="1820" dirty="0"/>
          </a:p>
        </p:txBody>
      </p:sp>
      <p:sp>
        <p:nvSpPr>
          <p:cNvPr id="22" name="Text 20"/>
          <p:cNvSpPr/>
          <p:nvPr/>
        </p:nvSpPr>
        <p:spPr>
          <a:xfrm>
            <a:off x="7269480" y="4206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opaca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69480" y="4645152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paga e quem recebe quanto? Sem dados, a operação perde dinheiro silenciosamente.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concorrente nº 1 não é um software — é a planilha e o grupo de WhatsApp.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plataforma que preenche o plantão certo, sozinha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4028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21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inteligente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 especialidade, CBO, credencial, no-show e conflito de agenda — e ranqueia quem pode assumir.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79392" y="192024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2240280"/>
            <a:ext cx="777240" cy="777240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240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210" dirty="0"/>
          </a:p>
        </p:txBody>
      </p:sp>
      <p:sp>
        <p:nvSpPr>
          <p:cNvPr id="12" name="Text 10"/>
          <p:cNvSpPr/>
          <p:nvPr/>
        </p:nvSpPr>
        <p:spPr>
          <a:xfrm>
            <a:off x="4553712" y="3154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que negocia 24/7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53712" y="365760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agente conversa pelo WhatsApp, oferece o plantão e confirma — com humano no controle das ações críticas.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0144" y="192024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0184" y="2240280"/>
            <a:ext cx="777240" cy="777240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16" name="Text 14"/>
          <p:cNvSpPr/>
          <p:nvPr/>
        </p:nvSpPr>
        <p:spPr>
          <a:xfrm>
            <a:off x="8330184" y="2240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</a:t>
            </a:r>
            <a:endParaRPr lang="en-US" sz="2210" dirty="0"/>
          </a:p>
        </p:txBody>
      </p:sp>
      <p:sp>
        <p:nvSpPr>
          <p:cNvPr id="17" name="Text 15"/>
          <p:cNvSpPr/>
          <p:nvPr/>
        </p:nvSpPr>
        <p:spPr>
          <a:xfrm>
            <a:off x="8284464" y="3154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 de margem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84464" y="365760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Recebíveis do cliente, pagáveis ao profissional e a margem da plataforma, com auditoria ponta a ponta.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 </a:t>
            </a:r>
            <a:pPr indent="0" marL="0">
              <a:buNone/>
            </a:pPr>
            <a:r>
              <a:rPr lang="en-US" sz="150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plantão descoberto ao profissional confirmado em minutos, não em horas.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uma ideia: o produto já está construído e testado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0B2D5B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construído e testado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32/32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377440" y="2788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de API aprovados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44728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14/14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377440" y="35387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negócio validadas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19709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377440" y="428853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de domínio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94690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Pronto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377440" y="503834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 primeiro piloto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1783080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9632" y="2084832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2084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0" y="191109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vagas e contratos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75120" y="227685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avulso, recorrente, cobertura, pool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2843784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9632" y="3145536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199632" y="31455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2971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Candidaturas → alocações → escala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675120" y="3337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controle de presença e no-show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0" y="3904488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99632" y="420624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199632" y="4206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75120" y="403250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Credenciamento regulatório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675120" y="439826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CRM/COREN, CBO, RQE, documentos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0" y="4965192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9632" y="5266944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6199632" y="5266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75120" y="50932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Omnichannel + auditoria + RBAC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675120" y="54589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WhatsApp/SMS/e-mail, white-label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172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NestJS · Next.js · PostgreSQL · IA Anthropic · Twilio/WhatsApp · Docker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AGORA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janela abriu — e o modelo já é provado lá fora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93976"/>
            <a:ext cx="658368" cy="658368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9397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</a:t>
            </a:r>
            <a:endParaRPr lang="en-US" sz="1872" dirty="0"/>
          </a:p>
        </p:txBody>
      </p:sp>
      <p:sp>
        <p:nvSpPr>
          <p:cNvPr id="7" name="Text 5"/>
          <p:cNvSpPr/>
          <p:nvPr/>
        </p:nvSpPr>
        <p:spPr>
          <a:xfrm>
            <a:off x="1691640" y="2057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Saúde operacional ainda manual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91640" y="2532888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“última milha” do RH em saúde — escala e plantão — segue em planilhas.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93976"/>
            <a:ext cx="658368" cy="658368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9397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1872" dirty="0"/>
          </a:p>
        </p:txBody>
      </p:sp>
      <p:sp>
        <p:nvSpPr>
          <p:cNvPr id="12" name="Text 10"/>
          <p:cNvSpPr/>
          <p:nvPr/>
        </p:nvSpPr>
        <p:spPr>
          <a:xfrm>
            <a:off x="7315200" y="2057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+ IA maduros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315200" y="2532888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Recrutamento conversacional automatizado a custo marginal quase zero.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197096"/>
            <a:ext cx="658368" cy="658368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19709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</a:t>
            </a:r>
            <a:endParaRPr lang="en-US" sz="1872" dirty="0"/>
          </a:p>
        </p:txBody>
      </p:sp>
      <p:sp>
        <p:nvSpPr>
          <p:cNvPr id="17" name="Text 15"/>
          <p:cNvSpPr/>
          <p:nvPr/>
        </p:nvSpPr>
        <p:spPr>
          <a:xfrm>
            <a:off x="1691640" y="41605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Pressão por conformidade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91640" y="4636008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 público exige controle de presença e prestação de contas.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197096"/>
            <a:ext cx="658368" cy="658368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9709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🌎</a:t>
            </a:r>
            <a:endParaRPr lang="en-US" sz="1872" dirty="0"/>
          </a:p>
        </p:txBody>
      </p:sp>
      <p:sp>
        <p:nvSpPr>
          <p:cNvPr id="22" name="Text 20"/>
          <p:cNvSpPr/>
          <p:nvPr/>
        </p:nvSpPr>
        <p:spPr>
          <a:xfrm>
            <a:off x="7315200" y="41605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Tese validada globalmente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315200" y="4636008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Nomad, Trusted, Medely (EUA) e Patchwork (UK) captaram centenas de US$ mi.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mercado de bilhões, hoje sem dono digital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852160" cy="1234440"/>
          </a:xfrm>
          <a:prstGeom prst="roundRect">
            <a:avLst>
              <a:gd name="adj" fmla="val 4444"/>
            </a:avLst>
          </a:prstGeom>
          <a:solidFill>
            <a:srgbClr val="0E315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8366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49424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R$ 15–20 bi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188720" y="3154680"/>
            <a:ext cx="4572000" cy="1234440"/>
          </a:xfrm>
          <a:prstGeom prst="roundRect">
            <a:avLst>
              <a:gd name="adj" fmla="val 4444"/>
            </a:avLst>
          </a:prstGeom>
          <a:solidFill>
            <a:srgbClr val="155A9C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30098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3666744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R$ 3–4 bi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783080" y="4572000"/>
            <a:ext cx="3383280" cy="1234440"/>
          </a:xfrm>
          <a:prstGeom prst="roundRect">
            <a:avLst>
              <a:gd name="adj" fmla="val 4444"/>
            </a:avLst>
          </a:prstGeom>
          <a:solidFill>
            <a:srgbClr val="0B74D1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471830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011680" y="5084064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R$ 150–300 mi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92240" y="18745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GMV de plantões/escalas de saúde no Brasil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32918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Nordeste + cooperativas, hospitais privados e público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47091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+ cooperativas do NE capturáveis (3–5 anos)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🔹 Estimativa bottom-up: nº de plantões × ticket médio (R$ 1.300). Receita endereçável ≈ 10% do GMV (take-rate + SaaS).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NEGÓCIO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Híbrido: recorrência previsível + upside de marketplace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2080" dirty="0"/>
          </a:p>
        </p:txBody>
      </p:sp>
      <p:sp>
        <p:nvSpPr>
          <p:cNvPr id="7" name="Text 5"/>
          <p:cNvSpPr/>
          <p:nvPr/>
        </p:nvSpPr>
        <p:spPr>
          <a:xfrm>
            <a:off x="1783080" y="2240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— assinatura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por conta institucional (cooperativa, hospital, órgão público).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~R$ 4.000</a:t>
            </a:r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/conta/mês (ARPA)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45262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Tiers: Essencial · Pro · Enterprise (white-label)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0B2D5B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214884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2080" dirty="0"/>
          </a:p>
        </p:txBody>
      </p:sp>
      <p:sp>
        <p:nvSpPr>
          <p:cNvPr id="14" name="Text 12"/>
          <p:cNvSpPr/>
          <p:nvPr/>
        </p:nvSpPr>
        <p:spPr>
          <a:xfrm>
            <a:off x="7406640" y="2240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— intermediação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37960" y="310896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Take-rate sobre o GMV de cada plantão transacionado na plataforma.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37960" y="388620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5–8%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do GMV (cons.→otim.)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537960" y="45262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GMV médio por plantão 🔹 R$ 1.300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dá previsibilidade ao investidor; o take-rate captura o crescimento do volume.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D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828800"/>
            <a:ext cx="5486400" cy="5486400"/>
          </a:xfrm>
          <a:prstGeom prst="ellipse">
            <a:avLst/>
          </a:prstGeom>
          <a:solidFill>
            <a:srgbClr val="1238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DIFERENCIAL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Nascemos com liquidez: a cooperativa-âncora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55.000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cooperados já contratualizados como oferta no dia 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0" y="1783080"/>
            <a:ext cx="5715000" cy="1170432"/>
          </a:xfrm>
          <a:prstGeom prst="roundRect">
            <a:avLst>
              <a:gd name="adj" fmla="val 6250"/>
            </a:avLst>
          </a:prstGeom>
          <a:solidFill>
            <a:srgbClr val="0E335F"/>
          </a:solidFill>
          <a:ln w="12700">
            <a:solidFill>
              <a:srgbClr val="1C4A82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0" y="2075688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207568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664" dirty="0"/>
          </a:p>
        </p:txBody>
      </p:sp>
      <p:sp>
        <p:nvSpPr>
          <p:cNvPr id="10" name="Text 8"/>
          <p:cNvSpPr/>
          <p:nvPr/>
        </p:nvSpPr>
        <p:spPr>
          <a:xfrm>
            <a:off x="6995160" y="19842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Investidor estratégico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95160" y="238658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pre-seed + smart money do setor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0" y="3108960"/>
            <a:ext cx="5715000" cy="1170432"/>
          </a:xfrm>
          <a:prstGeom prst="roundRect">
            <a:avLst>
              <a:gd name="adj" fmla="val 6250"/>
            </a:avLst>
          </a:prstGeom>
          <a:solidFill>
            <a:srgbClr val="0E335F"/>
          </a:solidFill>
          <a:ln w="12700">
            <a:solidFill>
              <a:srgbClr val="1C4A82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3401568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40156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1664" dirty="0"/>
          </a:p>
        </p:txBody>
      </p:sp>
      <p:sp>
        <p:nvSpPr>
          <p:cNvPr id="15" name="Text 13"/>
          <p:cNvSpPr/>
          <p:nvPr/>
        </p:nvSpPr>
        <p:spPr>
          <a:xfrm>
            <a:off x="6995160" y="33101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Cliente-âncora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95160" y="371246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contrato e case de validação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0" y="4434840"/>
            <a:ext cx="5715000" cy="1170432"/>
          </a:xfrm>
          <a:prstGeom prst="roundRect">
            <a:avLst>
              <a:gd name="adj" fmla="val 6250"/>
            </a:avLst>
          </a:prstGeom>
          <a:solidFill>
            <a:srgbClr val="0E335F"/>
          </a:solidFill>
          <a:ln w="12700">
            <a:solidFill>
              <a:srgbClr val="1C4A82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4727448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472744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1664" dirty="0"/>
          </a:p>
        </p:txBody>
      </p:sp>
      <p:sp>
        <p:nvSpPr>
          <p:cNvPr id="20" name="Text 18"/>
          <p:cNvSpPr/>
          <p:nvPr/>
        </p:nvSpPr>
        <p:spPr>
          <a:xfrm>
            <a:off x="6995160" y="46360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 pronta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95160" y="50383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de profissionais ≈ R$ 0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o “ovo e galinha” do marketplace — e abre a porta do sistema cooperativista nacional.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CONCORRÊNCIA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Fragmentado, manual e sem um player de tecnologia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846320" y="18745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Relacionamento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629400" y="18745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+ IA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18745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Financeiro/margem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195560" y="18745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11475720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77440"/>
            <a:ext cx="4114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A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quo (WhatsApp/planilha)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377440"/>
            <a:ext cx="1783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2377440"/>
            <a:ext cx="1783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C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0" y="2377440"/>
            <a:ext cx="1783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C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95560" y="2377440"/>
            <a:ext cx="1783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C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054096"/>
            <a:ext cx="11475720" cy="585216"/>
          </a:xfrm>
          <a:prstGeom prst="roundRect">
            <a:avLst>
              <a:gd name="adj" fmla="val 7813"/>
            </a:avLst>
          </a:prstGeom>
          <a:solidFill>
            <a:srgbClr val="EAF1F8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054096"/>
            <a:ext cx="4114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A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Agências/cooperativas tradicionais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054096"/>
            <a:ext cx="1783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29400" y="3054096"/>
            <a:ext cx="1783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0" y="3054096"/>
            <a:ext cx="1783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C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95560" y="3054096"/>
            <a:ext cx="1783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C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3730752"/>
            <a:ext cx="11475720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730752"/>
            <a:ext cx="4114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A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hospitalar (HIS)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730752"/>
            <a:ext cx="1783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29400" y="3730752"/>
            <a:ext cx="1783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C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12480" y="3730752"/>
            <a:ext cx="1783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195560" y="3730752"/>
            <a:ext cx="1783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C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4407408"/>
            <a:ext cx="11475720" cy="585216"/>
          </a:xfrm>
          <a:prstGeom prst="roundRect">
            <a:avLst>
              <a:gd name="adj" fmla="val 7813"/>
            </a:avLst>
          </a:prstGeom>
          <a:solidFill>
            <a:srgbClr val="EAF1F8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407408"/>
            <a:ext cx="4114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A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Marketplaces de saúde adjacentes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4407408"/>
            <a:ext cx="1783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C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29400" y="4407408"/>
            <a:ext cx="1783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C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12480" y="4407408"/>
            <a:ext cx="1783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195560" y="4407408"/>
            <a:ext cx="1783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8640" y="5084064"/>
            <a:ext cx="11475720" cy="585216"/>
          </a:xfrm>
          <a:prstGeom prst="roundRect">
            <a:avLst>
              <a:gd name="adj" fmla="val 7813"/>
            </a:avLst>
          </a:prstGeom>
          <a:solidFill>
            <a:srgbClr val="0B2D5B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084064"/>
            <a:ext cx="4114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5084064"/>
            <a:ext cx="1783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29400" y="5084064"/>
            <a:ext cx="1783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12480" y="5084064"/>
            <a:ext cx="1783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195560" y="5084064"/>
            <a:ext cx="1783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8640" y="6172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forte   △ parcial   ✗ ausente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PROJEÇÕES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líquida e caminho ao break-even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874520"/>
            <a:ext cx="3977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63840" y="19842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~mês 20–22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863840" y="24414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635240" y="2898648"/>
            <a:ext cx="3977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63840" y="300837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7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+R$ 3,2 mi (20%)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863840" y="34655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Ano 3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3922776"/>
            <a:ext cx="3977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863840" y="403250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R$ 187 mi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863840" y="44897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GMV Ano 3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635240" y="4946904"/>
            <a:ext cx="3977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863840" y="50566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~68%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7863840" y="55138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bruta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6172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🔹 Cenário realista. Pré-lançamento: premissas de mercado a validar no piloto.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 saudável — mesmo na visão SaaS-only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~7,7×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/ CAC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22783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saudável &gt; 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0574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7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~4,7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537960" y="2880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de CAC (meses)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322783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saudável &lt; 12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1605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914400" y="4983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anual (logo)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533095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switching cost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88620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41605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2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R$ 0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537960" y="4983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de profissionais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7960" y="533095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a cooperativa-âncora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Reporto SaaS-only para ser defensável; com o take-rate por cliente, a economia blended é muito maior.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piloto ao break-even em ~24 meses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385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0–6 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Fundação &amp; Âncora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" y="2962656"/>
            <a:ext cx="146304" cy="146304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283464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Fechar pre-seed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1248" y="3675888"/>
            <a:ext cx="146304" cy="146304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115568" y="3547872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 + CS/Ops; blindar IP/LGPD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1248" y="4389120"/>
            <a:ext cx="146304" cy="146304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1115568" y="4261104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Hardening: multi-tenancy + billing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1248" y="5102352"/>
            <a:ext cx="146304" cy="146304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1115568" y="4974336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na cooperativa-âncora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79392" y="182880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79392" y="182880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553712" y="19385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6–18 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53712" y="2240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Densidade regional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0" y="2962656"/>
            <a:ext cx="146304" cy="146304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83464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Expandir dentro da âncora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3675888"/>
            <a:ext cx="146304" cy="146304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547872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2–3 cooperativas do NE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0" y="4389120"/>
            <a:ext cx="146304" cy="146304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4261104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1º comercial + co-marketing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0" y="5102352"/>
            <a:ext cx="146304" cy="146304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4974336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~mês 20–22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10144" y="182880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10144" y="182880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00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8284464" y="19385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18–36 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84464" y="2240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Expansão de segmento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302752" y="2962656"/>
            <a:ext cx="146304" cy="146304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8577072" y="283464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Hospitais e redes privadas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302752" y="3675888"/>
            <a:ext cx="146304" cy="146304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8577072" y="3547872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no setor público (UPAs)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302752" y="4389120"/>
            <a:ext cx="146304" cy="146304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8577072" y="4261104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 + indicações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302752" y="5102352"/>
            <a:ext cx="146304" cy="146304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8577072" y="4974336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Preparar rodada seed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OPORTUNIDADE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Captamos R$ 1,5 mi para ~20 meses de runway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0" cy="4023360"/>
          </a:xfrm>
          <a:prstGeom prst="roundRect">
            <a:avLst>
              <a:gd name="adj" fmla="val 1818"/>
            </a:avLst>
          </a:prstGeom>
          <a:solidFill>
            <a:srgbClr val="0B2D5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945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R$ 1,5 mi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60120" y="3200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· SAFE com teto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37033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20240" y="3703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 &amp; Engenharia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4123944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20240" y="412394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 (Vendas &amp; Marketing)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454456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20240" y="45445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 &amp; COGS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4965192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20240" y="49651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Jurídico / Compliance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5385816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20240" y="538581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06440" y="1828800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53328" y="2075688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053328" y="20756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96" dirty="0"/>
          </a:p>
        </p:txBody>
      </p:sp>
      <p:sp>
        <p:nvSpPr>
          <p:cNvPr id="20" name="Text 18"/>
          <p:cNvSpPr/>
          <p:nvPr/>
        </p:nvSpPr>
        <p:spPr>
          <a:xfrm>
            <a:off x="6629400" y="194767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 pronto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629400" y="23042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construído e testado, pronto para implantar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806440" y="2862072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53328" y="3108960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6053328" y="3108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96" dirty="0"/>
          </a:p>
        </p:txBody>
      </p:sp>
      <p:sp>
        <p:nvSpPr>
          <p:cNvPr id="25" name="Text 23"/>
          <p:cNvSpPr/>
          <p:nvPr/>
        </p:nvSpPr>
        <p:spPr>
          <a:xfrm>
            <a:off x="6629400" y="298094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única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629400" y="3337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rede de cooperativas de saúde como esteira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06440" y="3895344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53328" y="4142232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6053328" y="41422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96" dirty="0"/>
          </a:p>
        </p:txBody>
      </p:sp>
      <p:sp>
        <p:nvSpPr>
          <p:cNvPr id="30" name="Text 28"/>
          <p:cNvSpPr/>
          <p:nvPr/>
        </p:nvSpPr>
        <p:spPr>
          <a:xfrm>
            <a:off x="6629400" y="401421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Liquidez no dia 1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629400" y="43708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55k cooperados de oferta, CAC ≈ 0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806440" y="4928616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53328" y="5175504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6053328" y="51755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96" dirty="0"/>
          </a:p>
        </p:txBody>
      </p:sp>
      <p:sp>
        <p:nvSpPr>
          <p:cNvPr id="35" name="Text 33"/>
          <p:cNvSpPr/>
          <p:nvPr/>
        </p:nvSpPr>
        <p:spPr>
          <a:xfrm>
            <a:off x="6629400" y="50474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técnico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6629400" y="540410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 o roadmap; rodada monta o time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D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5486400" cy="5486400"/>
          </a:xfrm>
          <a:prstGeom prst="ellipse">
            <a:avLst/>
          </a:prstGeom>
          <a:solidFill>
            <a:srgbClr val="0E315E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2194560"/>
            <a:ext cx="5943600" cy="5943600"/>
          </a:xfrm>
          <a:prstGeom prst="ellipse">
            <a:avLst/>
          </a:prstGeom>
          <a:solidFill>
            <a:srgbClr val="12386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✚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operacional do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 em saúde no Brasil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 pronto · canal único · liquidez no dia 1.  Vamos construir a categoria juntos.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1300" dirty="0">
                <a:solidFill>
                  <a:srgbClr val="9FB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Captação Pre-seed R$ 1,5 mi   ·   Fortaleza/CE   ·  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HealthMatch — Pitch Pre-seed</dc:title>
  <dc:subject>PptxGenJS Presentation</dc:subject>
  <dc:creator>HealthMatch</dc:creator>
  <cp:lastModifiedBy>HealthMatch</cp:lastModifiedBy>
  <cp:revision>1</cp:revision>
  <dcterms:created xsi:type="dcterms:W3CDTF">2026-06-23T02:36:45Z</dcterms:created>
  <dcterms:modified xsi:type="dcterms:W3CDTF">2026-06-23T02:36:45Z</dcterms:modified>
</cp:coreProperties>
</file>