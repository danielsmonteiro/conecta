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2D5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B2D5B"/>
                </a:solidFill>
                <a:latin typeface="Arial"/>
              </a:rPr>
              <a:t>Receita líquida (R$ mi)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Conservador</c:v>
                </c:pt>
              </c:strCache>
            </c:strRef>
          </c:tx>
          <c:spPr>
            <a:solidFill>
              <a:srgbClr val="6B7A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0.43</c:v>
                </c:pt>
                <c:pt idx="1">
                  <c:v>2.26</c:v>
                </c:pt>
                <c:pt idx="2">
                  <c:v>6.38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Realista</c:v>
                </c:pt>
              </c:strCache>
            </c:strRef>
          </c:tx>
          <c:spPr>
            <a:solidFill>
              <a:srgbClr val="0B74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1.09</c:v>
                </c:pt>
                <c:pt idx="1">
                  <c:v>5.99</c:v>
                </c:pt>
                <c:pt idx="2">
                  <c:v>16.5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Otimista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B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1.98</c:v>
                </c:pt>
                <c:pt idx="1">
                  <c:v>11.9</c:v>
                </c:pt>
                <c:pt idx="2">
                  <c:v>33.3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B4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B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943600" cy="59436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5029200" cy="5029200"/>
          </a:xfrm>
          <a:prstGeom prst="ellipse">
            <a:avLst/>
          </a:prstGeom>
          <a:solidFill>
            <a:srgbClr val="0E315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operacional para a Coaph — com opção de virar plataforma escalável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 defensiva: cortar custo operacional  </a:t>
            </a:r>
            <a:pPr indent="0" marL="0">
              <a:buNone/>
            </a:pPr>
            <a:r>
              <a:rPr lang="en-US" sz="14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Tese ofensiva: escalar (upside)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Pre-seed · R$ 1,5 mi (trancheado)</a:t>
            </a:r>
            <a:pPr indent="0" marL="0">
              <a:buNone/>
            </a:pPr>
            <a:r>
              <a:rPr lang="en-US" sz="14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Junho 2026  ·  Fortaleza/CE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Gerir plantões à mão custa caro — e a Coaph sente isso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603504" cy="603504"/>
          </a:xfrm>
          <a:prstGeom prst="ellipse">
            <a:avLst/>
          </a:prstGeom>
          <a:solidFill>
            <a:srgbClr val="D85A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299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716" dirty="0"/>
          </a:p>
        </p:txBody>
      </p:sp>
      <p:sp>
        <p:nvSpPr>
          <p:cNvPr id="7" name="Text 5"/>
          <p:cNvSpPr/>
          <p:nvPr/>
        </p:nvSpPr>
        <p:spPr>
          <a:xfrm>
            <a:off x="1600200" y="1975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Plantão descoberto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14016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Vagas não preenchidas a tempo viram risco assistencial e multa.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603504" cy="603504"/>
          </a:xfrm>
          <a:prstGeom prst="ellipse">
            <a:avLst/>
          </a:prstGeom>
          <a:solidFill>
            <a:srgbClr val="E8A23D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02996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⌚</a:t>
            </a:r>
            <a:endParaRPr lang="en-US" sz="1716" dirty="0"/>
          </a:p>
        </p:txBody>
      </p:sp>
      <p:sp>
        <p:nvSpPr>
          <p:cNvPr id="12" name="Text 10"/>
          <p:cNvSpPr/>
          <p:nvPr/>
        </p:nvSpPr>
        <p:spPr>
          <a:xfrm>
            <a:off x="7223760" y="1975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no WhatsApp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223760" y="2414016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Prepostos caçam profissionais em grupos, planilhas e telefonemas.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904488"/>
            <a:ext cx="603504" cy="603504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044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</a:t>
            </a:r>
            <a:endParaRPr lang="en-US" sz="1716" dirty="0"/>
          </a:p>
        </p:txBody>
      </p:sp>
      <p:sp>
        <p:nvSpPr>
          <p:cNvPr id="17" name="Text 15"/>
          <p:cNvSpPr/>
          <p:nvPr/>
        </p:nvSpPr>
        <p:spPr>
          <a:xfrm>
            <a:off x="1600200" y="384962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checagem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4288536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 vencida, especialidade errada e conflito de agenda passam.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61188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904488"/>
            <a:ext cx="603504" cy="603504"/>
          </a:xfrm>
          <a:prstGeom prst="ellipse">
            <a:avLst/>
          </a:prstGeom>
          <a:solidFill>
            <a:srgbClr val="0B2D5B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390448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</a:t>
            </a:r>
            <a:endParaRPr lang="en-US" sz="1716" dirty="0"/>
          </a:p>
        </p:txBody>
      </p:sp>
      <p:sp>
        <p:nvSpPr>
          <p:cNvPr id="22" name="Text 20"/>
          <p:cNvSpPr/>
          <p:nvPr/>
        </p:nvSpPr>
        <p:spPr>
          <a:xfrm>
            <a:off x="7223760" y="384962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operacional alto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223760" y="4288536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equipe inteira dedicada a um processo que dá para automatizar.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0B2D5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623560"/>
            <a:ext cx="10515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Coaph, esse trabalho manual custa ~</a:t>
            </a:r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R$ 240 mil/mês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prepostos — o alvo direto do HealthMatch.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plataforma que preenche o plantão certo, sozinha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21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inteligente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Cruza especialidade, CBO, credencial, no-show e conflito de agenda — e ranqueia quem pode assumir.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240280"/>
            <a:ext cx="777240" cy="777240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210" dirty="0"/>
          </a:p>
        </p:txBody>
      </p:sp>
      <p:sp>
        <p:nvSpPr>
          <p:cNvPr id="12" name="Text 10"/>
          <p:cNvSpPr/>
          <p:nvPr/>
        </p:nvSpPr>
        <p:spPr>
          <a:xfrm>
            <a:off x="4553712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que negocia 24/7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53712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agente conversa pelo WhatsApp, oferece o plantão e confirma — com humano no controle das ações críticas.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10144" y="19202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30184" y="2240280"/>
            <a:ext cx="777240" cy="77724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16" name="Text 14"/>
          <p:cNvSpPr/>
          <p:nvPr/>
        </p:nvSpPr>
        <p:spPr>
          <a:xfrm>
            <a:off x="8330184" y="2240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</a:t>
            </a:r>
            <a:endParaRPr lang="en-US" sz="2210" dirty="0"/>
          </a:p>
        </p:txBody>
      </p:sp>
      <p:sp>
        <p:nvSpPr>
          <p:cNvPr id="17" name="Text 15"/>
          <p:cNvSpPr/>
          <p:nvPr/>
        </p:nvSpPr>
        <p:spPr>
          <a:xfrm>
            <a:off x="8284464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de margem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84464" y="365760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Recebíveis, pagáveis e margem com auditoria ponta a ponta — menos conciliação manual.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 </a:t>
            </a:r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horas de preposto por plantão, e menos plantão descoberto.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ideia: o produto já está construído e testado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construído e testado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32/32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377440" y="27889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de API aprovados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44728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377440" y="3538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negócio validadas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9709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377440" y="42885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de domínio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94690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Pronto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77440" y="503834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piloto na Coaph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178308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99632" y="2084832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199632" y="20848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4" dirty="0"/>
          </a:p>
        </p:txBody>
      </p:sp>
      <p:sp>
        <p:nvSpPr>
          <p:cNvPr id="17" name="Text 15"/>
          <p:cNvSpPr/>
          <p:nvPr/>
        </p:nvSpPr>
        <p:spPr>
          <a:xfrm>
            <a:off x="6675120" y="191109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vagas e contratos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75120" y="227685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avulso, recorrente, cobertura, pool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0" y="2843784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3145536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31455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4" dirty="0"/>
          </a:p>
        </p:txBody>
      </p:sp>
      <p:sp>
        <p:nvSpPr>
          <p:cNvPr id="22" name="Text 20"/>
          <p:cNvSpPr/>
          <p:nvPr/>
        </p:nvSpPr>
        <p:spPr>
          <a:xfrm>
            <a:off x="6675120" y="2971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Candidaturas → alocações → escala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675120" y="33375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controle de presença e no-show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0" y="390448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9632" y="420624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199632" y="42062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4" dirty="0"/>
          </a:p>
        </p:txBody>
      </p:sp>
      <p:sp>
        <p:nvSpPr>
          <p:cNvPr id="27" name="Text 25"/>
          <p:cNvSpPr/>
          <p:nvPr/>
        </p:nvSpPr>
        <p:spPr>
          <a:xfrm>
            <a:off x="6675120" y="403250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Credenciamento regulatório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675120" y="439826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CRM/COREN, CBO, RQE, documentos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0" y="4965192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99632" y="5266944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199632" y="52669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84" dirty="0"/>
          </a:p>
        </p:txBody>
      </p:sp>
      <p:sp>
        <p:nvSpPr>
          <p:cNvPr id="32" name="Text 30"/>
          <p:cNvSpPr/>
          <p:nvPr/>
        </p:nvSpPr>
        <p:spPr>
          <a:xfrm>
            <a:off x="6675120" y="509320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+ auditoria + RBAC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675120" y="54589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WhatsApp/SMS/e-mail, white-label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Stack: NestJS · Next.js · PostgreSQL · IA Anthropic · Twilio/WhatsApp · Docker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teses — e a decisão se apoia na defensiva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3657600"/>
          </a:xfrm>
          <a:prstGeom prst="roundRect">
            <a:avLst>
              <a:gd name="adj" fmla="val 2000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 DEFENSIVA · base da decisão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Reduzir o custo operacional da própria Coaph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R$ 240 mil/mês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atacados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Paga-se sozinha pela economia — mesmo sem nenhum cliente externo.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9632" y="1783080"/>
            <a:ext cx="54406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65392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 OFENSIVA · upside opcional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65392" y="237744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Virar plataforma para cooperativas, hospitais e setor público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65392" y="320040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+ take-rate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65392" y="402336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 o retorno se a escala acontecer — mas não é premissa da decisão.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Coaph investe pela defensiva. A escala externa é bônus.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ESTRATÉGICO PARA A COAPH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interna paga o investimento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6B7A9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9280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4048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Conservador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Economia/mês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18211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 mil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76732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~25 meses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608576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anual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86460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64992" y="178308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64992" y="17830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B74D1"/>
          </a:solidFill>
          <a:ln/>
        </p:spPr>
      </p:sp>
      <p:sp>
        <p:nvSpPr>
          <p:cNvPr id="16" name="Text 14"/>
          <p:cNvSpPr/>
          <p:nvPr/>
        </p:nvSpPr>
        <p:spPr>
          <a:xfrm>
            <a:off x="3364992" y="189280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64992" y="24048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47872" y="29260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Economia/mês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47872" y="318211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R$ 120 mil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47872" y="376732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47872" y="4023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~12,5 meses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547872" y="4608576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anual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47872" y="486460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81344" y="178308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81344" y="17830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181344" y="189280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181344" y="24048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Otimista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364224" y="29260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Economia/mês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364224" y="318211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R$ 180 mil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64224" y="376732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64224" y="4023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~8,3 meses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64224" y="4608576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anual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64224" y="486460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144%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997696" y="1783080"/>
            <a:ext cx="2606040" cy="37947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997696" y="17830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9AA7B6"/>
          </a:solidFill>
          <a:ln/>
        </p:spPr>
      </p:sp>
      <p:sp>
        <p:nvSpPr>
          <p:cNvPr id="36" name="Text 34"/>
          <p:cNvSpPr/>
          <p:nvPr/>
        </p:nvSpPr>
        <p:spPr>
          <a:xfrm>
            <a:off x="8997696" y="1892808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8997696" y="24048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teórico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9180576" y="292608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Economia/mês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180576" y="3182112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R$ 240 mil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180576" y="3767328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180576" y="40233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~6,3 meses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180576" y="4608576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anual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180576" y="486460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192%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🔹 Custo atual R$ 240 mil/mês · investimento R$ 1,5 mi. Base de defesa: 25% (cons.) a 50% (real.). 100% é teto teórico, não premissa.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943600" cy="59436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PIOR CENÁRIO AINDA ATRATIVO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piso da tese já justifica o investimento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a 25%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~25 meses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payback no cenário conservador — só com a economia interna da Coaph (R$ 720 mil/ano).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07568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0756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612" dirty="0"/>
          </a:p>
        </p:txBody>
      </p:sp>
      <p:sp>
        <p:nvSpPr>
          <p:cNvPr id="11" name="Text 9"/>
          <p:cNvSpPr/>
          <p:nvPr/>
        </p:nvSpPr>
        <p:spPr>
          <a:xfrm>
            <a:off x="7269480" y="19659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limitado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269480" y="23317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interna sozinha justifica o aporte — não dependemos de escala nacional.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310896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37960" y="340156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40156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612" dirty="0"/>
          </a:p>
        </p:txBody>
      </p:sp>
      <p:sp>
        <p:nvSpPr>
          <p:cNvPr id="16" name="Text 14"/>
          <p:cNvSpPr/>
          <p:nvPr/>
        </p:nvSpPr>
        <p:spPr>
          <a:xfrm>
            <a:off x="7269480" y="32918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aberto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269480" y="365760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virar plataforma para outras cooperativas e hospitais, o retorno se multiplica.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443484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0E335F"/>
          </a:solidFill>
          <a:ln w="12700">
            <a:solidFill>
              <a:srgbClr val="1C4A82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472744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7274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≋</a:t>
            </a:r>
            <a:endParaRPr lang="en-US" sz="1612" dirty="0"/>
          </a:p>
        </p:txBody>
      </p:sp>
      <p:sp>
        <p:nvSpPr>
          <p:cNvPr id="21" name="Text 19"/>
          <p:cNvSpPr/>
          <p:nvPr/>
        </p:nvSpPr>
        <p:spPr>
          <a:xfrm>
            <a:off x="7269480" y="46177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escalonado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269480" y="49834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Tranches liberadas contra economia comprovada reduzem a exposição.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DO INVESTIMENTO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trancheado por resultado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7510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R$ 300–500 mil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+ início do piloto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4544568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Implantação, hardening, LGPD, integrações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9392" y="182880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79392" y="182880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0B74D1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97510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331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~R$ 500 mil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53712" y="30632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53712" y="3310128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≥ R$ 50 mil/mês comprovada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53712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53712" y="4544568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de uso na Coaph; 1as contratações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10144" y="182880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10144" y="182880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0B2D5B"/>
          </a:solidFill>
          <a:ln/>
        </p:spPr>
      </p:sp>
      <p:sp>
        <p:nvSpPr>
          <p:cNvPr id="22" name="Text 20"/>
          <p:cNvSpPr/>
          <p:nvPr/>
        </p:nvSpPr>
        <p:spPr>
          <a:xfrm>
            <a:off x="8284464" y="197510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84464" y="2331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~R$ 600 mil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284464" y="30632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84464" y="3310128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≥ R$ 100 mil/mês (ou volume equiv.)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84464" y="42976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84464" y="4544568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interna + preparo da expansão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Coaph só compromete capital adicional depois de ver a economia real. Capital escalonado pelo resultado.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MEDIMOS SUCESSO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do piloto Coaph — economia, não só uso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21408"/>
            <a:ext cx="566928" cy="56692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1554480" y="20848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com prepostos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63347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× depois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121408"/>
            <a:ext cx="566928" cy="56692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⌚</a:t>
            </a:r>
            <a:endParaRPr lang="en-US" sz="1612" dirty="0"/>
          </a:p>
        </p:txBody>
      </p:sp>
      <p:sp>
        <p:nvSpPr>
          <p:cNvPr id="12" name="Text 10"/>
          <p:cNvSpPr/>
          <p:nvPr/>
        </p:nvSpPr>
        <p:spPr>
          <a:xfrm>
            <a:off x="5285232" y="20848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manuais eliminadas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85232" y="263347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mês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182880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84464" y="2121408"/>
            <a:ext cx="566928" cy="56692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16" name="Text 14"/>
          <p:cNvSpPr/>
          <p:nvPr/>
        </p:nvSpPr>
        <p:spPr>
          <a:xfrm>
            <a:off x="8284464" y="2121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612" dirty="0"/>
          </a:p>
        </p:txBody>
      </p:sp>
      <p:sp>
        <p:nvSpPr>
          <p:cNvPr id="17" name="Text 15"/>
          <p:cNvSpPr/>
          <p:nvPr/>
        </p:nvSpPr>
        <p:spPr>
          <a:xfrm>
            <a:off x="9015984" y="20848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Plantões sem intervenção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15984" y="263347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automatizado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904488"/>
            <a:ext cx="566928" cy="56692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044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</a:t>
            </a:r>
            <a:endParaRPr lang="en-US" sz="1612" dirty="0"/>
          </a:p>
        </p:txBody>
      </p:sp>
      <p:sp>
        <p:nvSpPr>
          <p:cNvPr id="22" name="Text 20"/>
          <p:cNvSpPr/>
          <p:nvPr/>
        </p:nvSpPr>
        <p:spPr>
          <a:xfrm>
            <a:off x="1554480" y="386791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preenchimento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441655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→ minutos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79392" y="36118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3904488"/>
            <a:ext cx="566928" cy="566928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9044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</a:t>
            </a:r>
            <a:endParaRPr lang="en-US" sz="1612" dirty="0"/>
          </a:p>
        </p:txBody>
      </p:sp>
      <p:sp>
        <p:nvSpPr>
          <p:cNvPr id="27" name="Text 25"/>
          <p:cNvSpPr/>
          <p:nvPr/>
        </p:nvSpPr>
        <p:spPr>
          <a:xfrm>
            <a:off x="5285232" y="386791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Confirmações automatizadas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85232" y="441655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via IA/WhatsApp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10144" y="36118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84464" y="3904488"/>
            <a:ext cx="566928" cy="566928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31" name="Text 29"/>
          <p:cNvSpPr/>
          <p:nvPr/>
        </p:nvSpPr>
        <p:spPr>
          <a:xfrm>
            <a:off x="8284464" y="39044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</a:t>
            </a:r>
            <a:endParaRPr lang="en-US" sz="1612" dirty="0"/>
          </a:p>
        </p:txBody>
      </p:sp>
      <p:sp>
        <p:nvSpPr>
          <p:cNvPr id="32" name="Text 30"/>
          <p:cNvSpPr/>
          <p:nvPr/>
        </p:nvSpPr>
        <p:spPr>
          <a:xfrm>
            <a:off x="9015984" y="386791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operacional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15984" y="4416552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estimada × realizada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medido antes do piloto · comitê mensal Coaph + HealthMatch acompanha o ROI e libera as tranches.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·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escalar: um mercado de bilhões, sem dono digital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852160" cy="1188720"/>
          </a:xfrm>
          <a:prstGeom prst="roundRect">
            <a:avLst>
              <a:gd name="adj" fmla="val 4615"/>
            </a:avLst>
          </a:prstGeom>
          <a:solidFill>
            <a:srgbClr val="0E315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6537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31136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R$ 15–20 bi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188720" y="3108960"/>
            <a:ext cx="4572000" cy="1188720"/>
          </a:xfrm>
          <a:prstGeom prst="roundRect">
            <a:avLst>
              <a:gd name="adj" fmla="val 4615"/>
            </a:avLst>
          </a:prstGeom>
          <a:solidFill>
            <a:srgbClr val="155A9C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323697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602736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R$ 3–4 bi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783080" y="4480560"/>
            <a:ext cx="3383280" cy="1188720"/>
          </a:xfrm>
          <a:prstGeom prst="roundRect">
            <a:avLst>
              <a:gd name="adj" fmla="val 4615"/>
            </a:avLst>
          </a:prstGeom>
          <a:solidFill>
            <a:srgbClr val="0B74D1"/>
          </a:solidFill>
          <a:ln/>
        </p:spPr>
      </p:sp>
      <p:sp>
        <p:nvSpPr>
          <p:cNvPr id="11" name="Text 9"/>
          <p:cNvSpPr/>
          <p:nvPr/>
        </p:nvSpPr>
        <p:spPr>
          <a:xfrm>
            <a:off x="2011680" y="460857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011680" y="4974336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R$ 150–300 mi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1847088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de plantões/escalas de saúde no Brasil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3218688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Nordeste + cooperativas, hospitais e público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4590288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+ cooperativas do NE (3–5 anos)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🔹 Upside (tese ofensiva), não a base da decisão. Bottom-up: nº de plantões × ticket (R$ 1.300); receita ≈ 10% do GMV.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· MODELO DE NEGÓCIO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escalar: híbrido (recorrência + marketplace)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0B74D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</a:t>
            </a:r>
            <a:endParaRPr lang="en-US" sz="2080" dirty="0"/>
          </a:p>
        </p:txBody>
      </p:sp>
      <p:sp>
        <p:nvSpPr>
          <p:cNvPr id="7" name="Text 5"/>
          <p:cNvSpPr/>
          <p:nvPr/>
        </p:nvSpPr>
        <p:spPr>
          <a:xfrm>
            <a:off x="1783080" y="2240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— assinatura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MRR por conta institucional (cooperativa, hospital, órgão público).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~R$ 4.000</a:t>
            </a:r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/conta/mês (ARPA)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199632" y="1828800"/>
            <a:ext cx="5440680" cy="3108960"/>
          </a:xfrm>
          <a:prstGeom prst="roundRect">
            <a:avLst>
              <a:gd name="adj" fmla="val 2353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14884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80" dirty="0"/>
          </a:p>
        </p:txBody>
      </p:sp>
      <p:sp>
        <p:nvSpPr>
          <p:cNvPr id="13" name="Text 11"/>
          <p:cNvSpPr/>
          <p:nvPr/>
        </p:nvSpPr>
        <p:spPr>
          <a:xfrm>
            <a:off x="7434072" y="2240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— intermediação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65392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Take-rate sobre o GMV de cada plantão transacionado.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565392" y="384048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5–8%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do GMV (cons.→otim.)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Coaph, o modelo começa como economia de custo; a receita externa é o estágio seguinte.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· PROJEÇÕES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do HealthMatch — se a escala acontecer</a:t>
            </a:r>
            <a:endParaRPr lang="en-US" sz="2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828800"/>
            <a:ext cx="39776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~mês 20–22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35240" y="2834640"/>
            <a:ext cx="39776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63840" y="294436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+R$ 3,2 mi (20%)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Ano 3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3840480"/>
            <a:ext cx="39776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63840" y="395020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~7,7×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86384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/ CAC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4846320"/>
            <a:ext cx="39776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863840" y="495604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863840" y="5394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🔹 Tese ofensiva (upside). A decisão da Coaph se apoia no ROI operacional (slide 6), não nestes números.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concorrente nº 1 é o processo manual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84632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62940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+ IA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41248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Financeiro/margem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195560" y="18745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quo (WhatsApp/planilha/preposto)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4632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5560" y="2377440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054096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EAF1F8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54096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Agências/cooperativas tradicionais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84632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2B8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2940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95560" y="3054096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730752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30752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hospitalar (HIS)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4632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2940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41248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195560" y="3730752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EAF1F8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07408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Marketplaces de saúde adjacentes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4632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62940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CF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1248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195560" y="4407408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084064"/>
            <a:ext cx="11475720" cy="585216"/>
          </a:xfrm>
          <a:prstGeom prst="roundRect">
            <a:avLst>
              <a:gd name="adj" fmla="val 7813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84064"/>
            <a:ext cx="4114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4632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62940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1248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195560" y="5084064"/>
            <a:ext cx="17830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forte   △ parcial   ✗ ausente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piloto à economia comprovada — e à escala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 m · T1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Implantação na Coaph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+ Tranche 1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+ LGPD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com baseline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5568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mensal de ROI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9392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79392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53712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 · T2–T3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53712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Provar economia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0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R$ 50 mil/mês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≥ R$ 100 mil/mês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0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1–2 cooperativas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0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da Coaph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10144" y="182880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10144" y="18288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8284464" y="19385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18–36 m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84464" y="22402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(ofensiva)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02752" y="2962656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8577072" y="28346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Hospitais e redes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302752" y="3675888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5" name="Text 33"/>
          <p:cNvSpPr/>
          <p:nvPr/>
        </p:nvSpPr>
        <p:spPr>
          <a:xfrm>
            <a:off x="8577072" y="3547872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público (UPAs)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302752" y="4389120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7" name="Text 35"/>
          <p:cNvSpPr/>
          <p:nvPr/>
        </p:nvSpPr>
        <p:spPr>
          <a:xfrm>
            <a:off x="8577072" y="4261104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Rodada seed com tração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302752" y="5102352"/>
            <a:ext cx="146304" cy="14630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8577072" y="4974336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nacional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RECOMENDAÇÃO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Coaph deve investir — e quando não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0B2D5B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INVESTIR — se TODAS forem atendidas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468880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417320" y="2432304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Assinar contrato como cliente-âncora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4400" y="3182112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821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417320" y="3145536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trancheado (não único)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3895344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895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1417320" y="3858768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Tranches ligadas a economia comprovada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14400" y="4608576"/>
            <a:ext cx="365760" cy="3657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6085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1417320" y="457200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claros + comitê mensal de ROI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14400" y="5394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essas condições → não investir agora.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9632" y="17830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E6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8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65392" y="2011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enquadramento honesto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65392" y="242316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um investidor financeiro puro, o HealthMatch ainda é cedo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pré-receita, fundador solo, sem tração externa.
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A2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Coaph, o investimento pode ser racional mesmo sem escala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porque ataca uma economia concreta de até R$ 240 mil/mês.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B74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escala externa é upside, não premissa.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Confidencial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D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486400" cy="5486400"/>
          </a:xfrm>
          <a:prstGeom prst="ellipse">
            <a:avLst/>
          </a:prstGeom>
          <a:solidFill>
            <a:srgbClr val="0E31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2194560"/>
            <a:ext cx="5943600" cy="5943600"/>
          </a:xfrm>
          <a:prstGeom prst="ellipse">
            <a:avLst/>
          </a:prstGeom>
          <a:solidFill>
            <a:srgbClr val="12386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 operacional agora,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escalável depois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interna paga o investimento. A escala externa é o prêmio.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HealthMatch</a:t>
            </a:r>
            <a:pPr indent="0" marL="0">
              <a:buNone/>
            </a:pPr>
            <a:r>
              <a:rPr lang="en-US" sz="1300" dirty="0">
                <a:solidFill>
                  <a:srgbClr val="9FB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Pre-seed R$ 1,5 mi (trancheado)   ·   Coaph · Fortaleza/CE   ·  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HealthMatch — Pitch Coaph (Pre-seed)</dc:title>
  <dc:subject>PptxGenJS Presentation</dc:subject>
  <dc:creator>HealthMatch</dc:creator>
  <cp:lastModifiedBy>HealthMatch</cp:lastModifiedBy>
  <cp:revision>1</cp:revision>
  <dcterms:created xsi:type="dcterms:W3CDTF">2026-06-23T05:20:00Z</dcterms:created>
  <dcterms:modified xsi:type="dcterms:W3CDTF">2026-06-23T05:20:00Z</dcterms:modified>
</cp:coreProperties>
</file>